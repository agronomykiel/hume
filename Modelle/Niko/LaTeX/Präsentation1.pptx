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888" y="-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24322-31B4-4121-B3DB-49965F816C85}" type="datetimeFigureOut">
              <a:rPr lang="de-DE" smtClean="0"/>
              <a:pPr/>
              <a:t>11.08.2010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DDA2F-A6E4-4985-9E64-E8C46C825EF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Rectangle 4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064" name="AutoShape 40"/>
          <p:cNvSpPr>
            <a:spLocks noChangeAspect="1" noChangeArrowheads="1" noTextEdit="1"/>
          </p:cNvSpPr>
          <p:nvPr/>
        </p:nvSpPr>
        <p:spPr bwMode="auto">
          <a:xfrm>
            <a:off x="0" y="0"/>
            <a:ext cx="12348864" cy="50020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63" name="AutoShape 39"/>
          <p:cNvSpPr>
            <a:spLocks noChangeArrowheads="1"/>
          </p:cNvSpPr>
          <p:nvPr/>
        </p:nvSpPr>
        <p:spPr bwMode="auto">
          <a:xfrm>
            <a:off x="1874208" y="3795226"/>
            <a:ext cx="2176852" cy="288692"/>
          </a:xfrm>
          <a:prstGeom prst="parallelogram">
            <a:avLst>
              <a:gd name="adj" fmla="val 141246"/>
            </a:avLst>
          </a:prstGeom>
          <a:solidFill>
            <a:srgbClr val="9933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62" name="Picture 3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417" y="2943172"/>
            <a:ext cx="661199" cy="1032734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7821" y="2913394"/>
            <a:ext cx="606504" cy="1116518"/>
          </a:xfrm>
          <a:prstGeom prst="rect">
            <a:avLst/>
          </a:prstGeom>
          <a:noFill/>
        </p:spPr>
      </p:pic>
      <p:pic>
        <p:nvPicPr>
          <p:cNvPr id="1060" name="Picture 3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56617" y="2888256"/>
            <a:ext cx="551809" cy="1033645"/>
          </a:xfrm>
          <a:prstGeom prst="rect">
            <a:avLst/>
          </a:prstGeom>
          <a:noFill/>
        </p:spPr>
      </p:pic>
      <p:sp>
        <p:nvSpPr>
          <p:cNvPr id="1059" name="AutoShape 35"/>
          <p:cNvSpPr>
            <a:spLocks noChangeArrowheads="1"/>
          </p:cNvSpPr>
          <p:nvPr/>
        </p:nvSpPr>
        <p:spPr bwMode="auto">
          <a:xfrm>
            <a:off x="5402628" y="3309172"/>
            <a:ext cx="2176852" cy="288692"/>
          </a:xfrm>
          <a:prstGeom prst="parallelogram">
            <a:avLst>
              <a:gd name="adj" fmla="val 141246"/>
            </a:avLst>
          </a:prstGeom>
          <a:solidFill>
            <a:srgbClr val="9933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58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59502" y="826005"/>
            <a:ext cx="2701922" cy="567366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26723" y="949860"/>
            <a:ext cx="827714" cy="403440"/>
          </a:xfrm>
          <a:prstGeom prst="rect">
            <a:avLst/>
          </a:prstGeom>
          <a:noFill/>
        </p:spPr>
      </p:pic>
      <p:sp>
        <p:nvSpPr>
          <p:cNvPr id="1056" name="Text Box 32"/>
          <p:cNvSpPr txBox="1">
            <a:spLocks noChangeArrowheads="1"/>
          </p:cNvSpPr>
          <p:nvPr/>
        </p:nvSpPr>
        <p:spPr bwMode="auto">
          <a:xfrm>
            <a:off x="5868144" y="2571750"/>
            <a:ext cx="550594" cy="21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7" tIns="16459" rIns="32917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N</a:t>
            </a:r>
            <a:r>
              <a:rPr kumimoji="0" lang="de-DE" sz="1200" b="0" i="0" u="none" strike="noStrike" cap="none" normalizeH="0" baseline="-3000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2</a:t>
            </a: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O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55" name="Text Box 31"/>
          <p:cNvSpPr txBox="1">
            <a:spLocks noChangeArrowheads="1"/>
          </p:cNvSpPr>
          <p:nvPr/>
        </p:nvSpPr>
        <p:spPr bwMode="auto">
          <a:xfrm>
            <a:off x="6325662" y="2679763"/>
            <a:ext cx="550594" cy="210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7" tIns="16459" rIns="32917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NH</a:t>
            </a:r>
            <a:r>
              <a:rPr kumimoji="0" lang="de-DE" sz="1200" b="0" i="0" u="none" strike="noStrike" cap="none" normalizeH="0" baseline="-3000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54" name="Text Box 30"/>
          <p:cNvSpPr txBox="1">
            <a:spLocks noChangeArrowheads="1"/>
          </p:cNvSpPr>
          <p:nvPr/>
        </p:nvSpPr>
        <p:spPr bwMode="auto">
          <a:xfrm>
            <a:off x="6757710" y="2738965"/>
            <a:ext cx="550594" cy="210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7" tIns="16459" rIns="32917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CH</a:t>
            </a:r>
            <a:r>
              <a:rPr kumimoji="0" lang="de-DE" sz="1200" b="0" i="0" u="none" strike="noStrike" cap="none" normalizeH="0" baseline="-3000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4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53" name="Line 29"/>
          <p:cNvSpPr>
            <a:spLocks noChangeShapeType="1"/>
          </p:cNvSpPr>
          <p:nvPr/>
        </p:nvSpPr>
        <p:spPr bwMode="auto">
          <a:xfrm flipV="1">
            <a:off x="4520219" y="660258"/>
            <a:ext cx="0" cy="412547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52" name="Freeform 28"/>
          <p:cNvSpPr>
            <a:spLocks/>
          </p:cNvSpPr>
          <p:nvPr/>
        </p:nvSpPr>
        <p:spPr bwMode="auto">
          <a:xfrm>
            <a:off x="1187625" y="1073715"/>
            <a:ext cx="882409" cy="2479381"/>
          </a:xfrm>
          <a:custGeom>
            <a:avLst/>
            <a:gdLst/>
            <a:ahLst/>
            <a:cxnLst>
              <a:cxn ang="0">
                <a:pos x="0" y="1769"/>
              </a:cxn>
              <a:cxn ang="0">
                <a:pos x="7" y="3"/>
              </a:cxn>
              <a:cxn ang="0">
                <a:pos x="862" y="0"/>
              </a:cxn>
            </a:cxnLst>
            <a:rect l="0" t="0" r="r" b="b"/>
            <a:pathLst>
              <a:path w="862" h="1769">
                <a:moveTo>
                  <a:pt x="0" y="1769"/>
                </a:moveTo>
                <a:lnTo>
                  <a:pt x="7" y="3"/>
                </a:lnTo>
                <a:lnTo>
                  <a:pt x="862" y="0"/>
                </a:lnTo>
              </a:path>
            </a:pathLst>
          </a:custGeom>
          <a:noFill/>
          <a:ln w="50800">
            <a:solidFill>
              <a:srgbClr val="8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51" name="Freeform 27"/>
          <p:cNvSpPr>
            <a:spLocks/>
          </p:cNvSpPr>
          <p:nvPr/>
        </p:nvSpPr>
        <p:spPr bwMode="auto">
          <a:xfrm>
            <a:off x="6113608" y="1156588"/>
            <a:ext cx="330600" cy="136115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0" y="1"/>
              </a:cxn>
              <a:cxn ang="0">
                <a:pos x="272" y="998"/>
              </a:cxn>
            </a:cxnLst>
            <a:rect l="0" t="0" r="r" b="b"/>
            <a:pathLst>
              <a:path w="272" h="998">
                <a:moveTo>
                  <a:pt x="0" y="0"/>
                </a:moveTo>
                <a:lnTo>
                  <a:pt x="270" y="1"/>
                </a:lnTo>
                <a:lnTo>
                  <a:pt x="272" y="998"/>
                </a:lnTo>
              </a:path>
            </a:pathLst>
          </a:custGeom>
          <a:noFill/>
          <a:ln w="50800">
            <a:solidFill>
              <a:srgbClr val="8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50" name="Freeform 26"/>
          <p:cNvSpPr>
            <a:spLocks/>
          </p:cNvSpPr>
          <p:nvPr/>
        </p:nvSpPr>
        <p:spPr bwMode="auto">
          <a:xfrm>
            <a:off x="4079016" y="3645322"/>
            <a:ext cx="2365193" cy="330584"/>
          </a:xfrm>
          <a:custGeom>
            <a:avLst/>
            <a:gdLst/>
            <a:ahLst/>
            <a:cxnLst>
              <a:cxn ang="0">
                <a:pos x="1134" y="0"/>
              </a:cxn>
              <a:cxn ang="0">
                <a:pos x="1133" y="680"/>
              </a:cxn>
              <a:cxn ang="0">
                <a:pos x="0" y="680"/>
              </a:cxn>
            </a:cxnLst>
            <a:rect l="0" t="0" r="r" b="b"/>
            <a:pathLst>
              <a:path w="1134" h="680">
                <a:moveTo>
                  <a:pt x="1134" y="0"/>
                </a:moveTo>
                <a:lnTo>
                  <a:pt x="1133" y="680"/>
                </a:lnTo>
                <a:lnTo>
                  <a:pt x="0" y="680"/>
                </a:lnTo>
              </a:path>
            </a:pathLst>
          </a:custGeom>
          <a:noFill/>
          <a:ln w="50800">
            <a:solidFill>
              <a:srgbClr val="8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49" name="Freeform 25"/>
          <p:cNvSpPr>
            <a:spLocks/>
          </p:cNvSpPr>
          <p:nvPr/>
        </p:nvSpPr>
        <p:spPr bwMode="auto">
          <a:xfrm>
            <a:off x="2920702" y="578294"/>
            <a:ext cx="123975" cy="568277"/>
          </a:xfrm>
          <a:custGeom>
            <a:avLst/>
            <a:gdLst/>
            <a:ahLst/>
            <a:cxnLst>
              <a:cxn ang="0">
                <a:pos x="40" y="624"/>
              </a:cxn>
              <a:cxn ang="0">
                <a:pos x="10" y="554"/>
              </a:cxn>
              <a:cxn ang="0">
                <a:pos x="98" y="443"/>
              </a:cxn>
              <a:cxn ang="0">
                <a:pos x="32" y="340"/>
              </a:cxn>
              <a:cxn ang="0">
                <a:pos x="84" y="207"/>
              </a:cxn>
              <a:cxn ang="0">
                <a:pos x="84" y="0"/>
              </a:cxn>
            </a:cxnLst>
            <a:rect l="0" t="0" r="r" b="b"/>
            <a:pathLst>
              <a:path w="102" h="624">
                <a:moveTo>
                  <a:pt x="40" y="624"/>
                </a:moveTo>
                <a:cubicBezTo>
                  <a:pt x="35" y="612"/>
                  <a:pt x="0" y="584"/>
                  <a:pt x="10" y="554"/>
                </a:cubicBezTo>
                <a:cubicBezTo>
                  <a:pt x="20" y="524"/>
                  <a:pt x="94" y="479"/>
                  <a:pt x="98" y="443"/>
                </a:cubicBezTo>
                <a:cubicBezTo>
                  <a:pt x="102" y="407"/>
                  <a:pt x="34" y="379"/>
                  <a:pt x="32" y="340"/>
                </a:cubicBezTo>
                <a:cubicBezTo>
                  <a:pt x="30" y="301"/>
                  <a:pt x="75" y="264"/>
                  <a:pt x="84" y="207"/>
                </a:cubicBezTo>
                <a:cubicBezTo>
                  <a:pt x="93" y="150"/>
                  <a:pt x="84" y="43"/>
                  <a:pt x="8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48" name="Freeform 24"/>
          <p:cNvSpPr>
            <a:spLocks/>
          </p:cNvSpPr>
          <p:nvPr/>
        </p:nvSpPr>
        <p:spPr bwMode="auto">
          <a:xfrm>
            <a:off x="5512019" y="578294"/>
            <a:ext cx="123975" cy="568277"/>
          </a:xfrm>
          <a:custGeom>
            <a:avLst/>
            <a:gdLst/>
            <a:ahLst/>
            <a:cxnLst>
              <a:cxn ang="0">
                <a:pos x="40" y="624"/>
              </a:cxn>
              <a:cxn ang="0">
                <a:pos x="10" y="554"/>
              </a:cxn>
              <a:cxn ang="0">
                <a:pos x="98" y="443"/>
              </a:cxn>
              <a:cxn ang="0">
                <a:pos x="32" y="340"/>
              </a:cxn>
              <a:cxn ang="0">
                <a:pos x="84" y="207"/>
              </a:cxn>
              <a:cxn ang="0">
                <a:pos x="84" y="0"/>
              </a:cxn>
            </a:cxnLst>
            <a:rect l="0" t="0" r="r" b="b"/>
            <a:pathLst>
              <a:path w="102" h="624">
                <a:moveTo>
                  <a:pt x="40" y="624"/>
                </a:moveTo>
                <a:cubicBezTo>
                  <a:pt x="35" y="612"/>
                  <a:pt x="0" y="584"/>
                  <a:pt x="10" y="554"/>
                </a:cubicBezTo>
                <a:cubicBezTo>
                  <a:pt x="20" y="524"/>
                  <a:pt x="94" y="479"/>
                  <a:pt x="98" y="443"/>
                </a:cubicBezTo>
                <a:cubicBezTo>
                  <a:pt x="102" y="407"/>
                  <a:pt x="34" y="379"/>
                  <a:pt x="32" y="340"/>
                </a:cubicBezTo>
                <a:cubicBezTo>
                  <a:pt x="30" y="301"/>
                  <a:pt x="75" y="264"/>
                  <a:pt x="84" y="207"/>
                </a:cubicBezTo>
                <a:cubicBezTo>
                  <a:pt x="93" y="150"/>
                  <a:pt x="84" y="43"/>
                  <a:pt x="8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47" name="Freeform 23"/>
          <p:cNvSpPr>
            <a:spLocks/>
          </p:cNvSpPr>
          <p:nvPr/>
        </p:nvSpPr>
        <p:spPr bwMode="auto">
          <a:xfrm>
            <a:off x="6804249" y="2895786"/>
            <a:ext cx="123975" cy="568277"/>
          </a:xfrm>
          <a:custGeom>
            <a:avLst/>
            <a:gdLst/>
            <a:ahLst/>
            <a:cxnLst>
              <a:cxn ang="0">
                <a:pos x="40" y="624"/>
              </a:cxn>
              <a:cxn ang="0">
                <a:pos x="10" y="554"/>
              </a:cxn>
              <a:cxn ang="0">
                <a:pos x="98" y="443"/>
              </a:cxn>
              <a:cxn ang="0">
                <a:pos x="32" y="340"/>
              </a:cxn>
              <a:cxn ang="0">
                <a:pos x="84" y="207"/>
              </a:cxn>
              <a:cxn ang="0">
                <a:pos x="84" y="0"/>
              </a:cxn>
            </a:cxnLst>
            <a:rect l="0" t="0" r="r" b="b"/>
            <a:pathLst>
              <a:path w="102" h="624">
                <a:moveTo>
                  <a:pt x="40" y="624"/>
                </a:moveTo>
                <a:cubicBezTo>
                  <a:pt x="35" y="612"/>
                  <a:pt x="0" y="584"/>
                  <a:pt x="10" y="554"/>
                </a:cubicBezTo>
                <a:cubicBezTo>
                  <a:pt x="20" y="524"/>
                  <a:pt x="94" y="479"/>
                  <a:pt x="98" y="443"/>
                </a:cubicBezTo>
                <a:cubicBezTo>
                  <a:pt x="102" y="407"/>
                  <a:pt x="34" y="379"/>
                  <a:pt x="32" y="340"/>
                </a:cubicBezTo>
                <a:cubicBezTo>
                  <a:pt x="30" y="301"/>
                  <a:pt x="75" y="264"/>
                  <a:pt x="84" y="207"/>
                </a:cubicBezTo>
                <a:cubicBezTo>
                  <a:pt x="93" y="150"/>
                  <a:pt x="84" y="43"/>
                  <a:pt x="8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46" name="Freeform 22"/>
          <p:cNvSpPr>
            <a:spLocks/>
          </p:cNvSpPr>
          <p:nvPr/>
        </p:nvSpPr>
        <p:spPr bwMode="auto">
          <a:xfrm>
            <a:off x="6372201" y="2867569"/>
            <a:ext cx="123975" cy="568277"/>
          </a:xfrm>
          <a:custGeom>
            <a:avLst/>
            <a:gdLst/>
            <a:ahLst/>
            <a:cxnLst>
              <a:cxn ang="0">
                <a:pos x="40" y="624"/>
              </a:cxn>
              <a:cxn ang="0">
                <a:pos x="10" y="554"/>
              </a:cxn>
              <a:cxn ang="0">
                <a:pos x="98" y="443"/>
              </a:cxn>
              <a:cxn ang="0">
                <a:pos x="32" y="340"/>
              </a:cxn>
              <a:cxn ang="0">
                <a:pos x="84" y="207"/>
              </a:cxn>
              <a:cxn ang="0">
                <a:pos x="84" y="0"/>
              </a:cxn>
            </a:cxnLst>
            <a:rect l="0" t="0" r="r" b="b"/>
            <a:pathLst>
              <a:path w="102" h="624">
                <a:moveTo>
                  <a:pt x="40" y="624"/>
                </a:moveTo>
                <a:cubicBezTo>
                  <a:pt x="35" y="612"/>
                  <a:pt x="0" y="584"/>
                  <a:pt x="10" y="554"/>
                </a:cubicBezTo>
                <a:cubicBezTo>
                  <a:pt x="20" y="524"/>
                  <a:pt x="94" y="479"/>
                  <a:pt x="98" y="443"/>
                </a:cubicBezTo>
                <a:cubicBezTo>
                  <a:pt x="102" y="407"/>
                  <a:pt x="34" y="379"/>
                  <a:pt x="32" y="340"/>
                </a:cubicBezTo>
                <a:cubicBezTo>
                  <a:pt x="30" y="301"/>
                  <a:pt x="75" y="264"/>
                  <a:pt x="84" y="207"/>
                </a:cubicBezTo>
                <a:cubicBezTo>
                  <a:pt x="93" y="150"/>
                  <a:pt x="84" y="43"/>
                  <a:pt x="8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45" name="Freeform 21"/>
          <p:cNvSpPr>
            <a:spLocks/>
          </p:cNvSpPr>
          <p:nvPr/>
        </p:nvSpPr>
        <p:spPr bwMode="auto">
          <a:xfrm>
            <a:off x="5953223" y="2759101"/>
            <a:ext cx="123975" cy="568733"/>
          </a:xfrm>
          <a:custGeom>
            <a:avLst/>
            <a:gdLst/>
            <a:ahLst/>
            <a:cxnLst>
              <a:cxn ang="0">
                <a:pos x="40" y="624"/>
              </a:cxn>
              <a:cxn ang="0">
                <a:pos x="10" y="554"/>
              </a:cxn>
              <a:cxn ang="0">
                <a:pos x="98" y="443"/>
              </a:cxn>
              <a:cxn ang="0">
                <a:pos x="32" y="340"/>
              </a:cxn>
              <a:cxn ang="0">
                <a:pos x="84" y="207"/>
              </a:cxn>
              <a:cxn ang="0">
                <a:pos x="84" y="0"/>
              </a:cxn>
            </a:cxnLst>
            <a:rect l="0" t="0" r="r" b="b"/>
            <a:pathLst>
              <a:path w="102" h="624">
                <a:moveTo>
                  <a:pt x="40" y="624"/>
                </a:moveTo>
                <a:cubicBezTo>
                  <a:pt x="35" y="612"/>
                  <a:pt x="0" y="584"/>
                  <a:pt x="10" y="554"/>
                </a:cubicBezTo>
                <a:cubicBezTo>
                  <a:pt x="20" y="524"/>
                  <a:pt x="94" y="479"/>
                  <a:pt x="98" y="443"/>
                </a:cubicBezTo>
                <a:cubicBezTo>
                  <a:pt x="102" y="407"/>
                  <a:pt x="34" y="379"/>
                  <a:pt x="32" y="340"/>
                </a:cubicBezTo>
                <a:cubicBezTo>
                  <a:pt x="30" y="301"/>
                  <a:pt x="75" y="264"/>
                  <a:pt x="84" y="207"/>
                </a:cubicBezTo>
                <a:cubicBezTo>
                  <a:pt x="93" y="150"/>
                  <a:pt x="84" y="43"/>
                  <a:pt x="8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44" name="Freeform 20"/>
          <p:cNvSpPr>
            <a:spLocks/>
          </p:cNvSpPr>
          <p:nvPr/>
        </p:nvSpPr>
        <p:spPr bwMode="auto">
          <a:xfrm rot="10800000">
            <a:off x="2756616" y="4125001"/>
            <a:ext cx="109390" cy="336959"/>
          </a:xfrm>
          <a:custGeom>
            <a:avLst/>
            <a:gdLst/>
            <a:ahLst/>
            <a:cxnLst>
              <a:cxn ang="0">
                <a:pos x="40" y="624"/>
              </a:cxn>
              <a:cxn ang="0">
                <a:pos x="10" y="554"/>
              </a:cxn>
              <a:cxn ang="0">
                <a:pos x="98" y="443"/>
              </a:cxn>
              <a:cxn ang="0">
                <a:pos x="32" y="340"/>
              </a:cxn>
              <a:cxn ang="0">
                <a:pos x="84" y="207"/>
              </a:cxn>
              <a:cxn ang="0">
                <a:pos x="84" y="0"/>
              </a:cxn>
            </a:cxnLst>
            <a:rect l="0" t="0" r="r" b="b"/>
            <a:pathLst>
              <a:path w="102" h="624">
                <a:moveTo>
                  <a:pt x="40" y="624"/>
                </a:moveTo>
                <a:cubicBezTo>
                  <a:pt x="35" y="612"/>
                  <a:pt x="0" y="584"/>
                  <a:pt x="10" y="554"/>
                </a:cubicBezTo>
                <a:cubicBezTo>
                  <a:pt x="20" y="524"/>
                  <a:pt x="94" y="479"/>
                  <a:pt x="98" y="443"/>
                </a:cubicBezTo>
                <a:cubicBezTo>
                  <a:pt x="102" y="407"/>
                  <a:pt x="34" y="379"/>
                  <a:pt x="32" y="340"/>
                </a:cubicBezTo>
                <a:cubicBezTo>
                  <a:pt x="30" y="301"/>
                  <a:pt x="75" y="264"/>
                  <a:pt x="84" y="207"/>
                </a:cubicBezTo>
                <a:cubicBezTo>
                  <a:pt x="93" y="150"/>
                  <a:pt x="84" y="43"/>
                  <a:pt x="8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43" name="Freeform 19"/>
          <p:cNvSpPr>
            <a:spLocks/>
          </p:cNvSpPr>
          <p:nvPr/>
        </p:nvSpPr>
        <p:spPr bwMode="auto">
          <a:xfrm rot="10800000">
            <a:off x="6866017" y="3651871"/>
            <a:ext cx="109390" cy="336959"/>
          </a:xfrm>
          <a:custGeom>
            <a:avLst/>
            <a:gdLst/>
            <a:ahLst/>
            <a:cxnLst>
              <a:cxn ang="0">
                <a:pos x="40" y="624"/>
              </a:cxn>
              <a:cxn ang="0">
                <a:pos x="10" y="554"/>
              </a:cxn>
              <a:cxn ang="0">
                <a:pos x="98" y="443"/>
              </a:cxn>
              <a:cxn ang="0">
                <a:pos x="32" y="340"/>
              </a:cxn>
              <a:cxn ang="0">
                <a:pos x="84" y="207"/>
              </a:cxn>
              <a:cxn ang="0">
                <a:pos x="84" y="0"/>
              </a:cxn>
            </a:cxnLst>
            <a:rect l="0" t="0" r="r" b="b"/>
            <a:pathLst>
              <a:path w="102" h="624">
                <a:moveTo>
                  <a:pt x="40" y="624"/>
                </a:moveTo>
                <a:cubicBezTo>
                  <a:pt x="35" y="612"/>
                  <a:pt x="0" y="584"/>
                  <a:pt x="10" y="554"/>
                </a:cubicBezTo>
                <a:cubicBezTo>
                  <a:pt x="20" y="524"/>
                  <a:pt x="94" y="479"/>
                  <a:pt x="98" y="443"/>
                </a:cubicBezTo>
                <a:cubicBezTo>
                  <a:pt x="102" y="407"/>
                  <a:pt x="34" y="379"/>
                  <a:pt x="32" y="340"/>
                </a:cubicBezTo>
                <a:cubicBezTo>
                  <a:pt x="30" y="301"/>
                  <a:pt x="75" y="264"/>
                  <a:pt x="84" y="207"/>
                </a:cubicBezTo>
                <a:cubicBezTo>
                  <a:pt x="93" y="150"/>
                  <a:pt x="84" y="43"/>
                  <a:pt x="8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1907704" y="2273952"/>
            <a:ext cx="3528392" cy="297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7" tIns="16459" rIns="32917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Biogas </a:t>
            </a:r>
            <a:r>
              <a:rPr kumimoji="0" lang="de-DE" b="1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Production</a:t>
            </a:r>
            <a:r>
              <a:rPr kumimoji="0" lang="de-DE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System </a:t>
            </a:r>
            <a:endParaRPr kumimoji="0" lang="de-DE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574302" y="4467612"/>
            <a:ext cx="717109" cy="21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7" tIns="16459" rIns="32917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NO</a:t>
            </a:r>
            <a:r>
              <a:rPr kumimoji="0" lang="de-DE" sz="1200" b="0" i="0" u="none" strike="noStrike" cap="none" normalizeH="0" baseline="-3000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kumimoji="0" lang="de-DE" sz="1200" b="0" i="0" u="none" strike="noStrike" cap="none" normalizeH="0" baseline="3000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6732240" y="4035564"/>
            <a:ext cx="550594" cy="21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7" tIns="16459" rIns="32917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NO</a:t>
            </a:r>
            <a:r>
              <a:rPr kumimoji="0" lang="de-DE" sz="1200" b="0" i="0" u="none" strike="noStrike" cap="none" normalizeH="0" baseline="-3000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2378615" y="1413136"/>
            <a:ext cx="3629302" cy="40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7" tIns="16459" rIns="32917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Methane production and residue storage Biogas plant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8" name="Text Box 14"/>
          <p:cNvSpPr txBox="1">
            <a:spLocks noChangeArrowheads="1"/>
          </p:cNvSpPr>
          <p:nvPr/>
        </p:nvSpPr>
        <p:spPr bwMode="auto">
          <a:xfrm>
            <a:off x="4285292" y="3759883"/>
            <a:ext cx="2086909" cy="22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7" tIns="16459" rIns="32917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Biomass</a:t>
            </a:r>
            <a:r>
              <a:rPr kumimoji="0" lang="de-DE" sz="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de-DE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accumulation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auto">
          <a:xfrm>
            <a:off x="4456368" y="4212804"/>
            <a:ext cx="2275872" cy="681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8" tIns="16459" rIns="32918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N load &amp; N concentration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in </a:t>
            </a:r>
            <a:r>
              <a:rPr kumimoji="0" lang="en-GB" sz="1200" b="1" i="0" u="none" strike="noStrike" cap="none" normalizeH="0" baseline="0" dirty="0" err="1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leachate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6516216" y="1275606"/>
            <a:ext cx="1361024" cy="1190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8" tIns="16459" rIns="32918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NH</a:t>
            </a:r>
            <a:r>
              <a:rPr kumimoji="0" lang="en-GB" sz="1200" b="1" i="0" u="none" strike="noStrike" cap="none" normalizeH="0" baseline="-3000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emission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normalizeH="0" baseline="0" dirty="0" smtClean="0">
              <a:ln>
                <a:noFill/>
              </a:ln>
              <a:solidFill>
                <a:srgbClr val="0033CC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b="1" dirty="0">
              <a:solidFill>
                <a:srgbClr val="0033CC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Greenhouse gas </a:t>
            </a:r>
            <a:b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emission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Soil fertility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362052" y="4677984"/>
            <a:ext cx="2921916" cy="681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8" tIns="16459" rIns="32918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Biomass accumulation &amp;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N-efficiency of energy crops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35496" y="1950660"/>
            <a:ext cx="1072093" cy="891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8" tIns="16459" rIns="32918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1" i="0" u="none" strike="noStrike" cap="none" normalizeH="0" baseline="0" dirty="0" err="1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Methane</a:t>
            </a:r>
            <a:r>
              <a:rPr kumimoji="0" lang="de-DE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200" b="1" i="0" u="none" strike="noStrike" cap="none" normalizeH="0" baseline="0" dirty="0" err="1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yield</a:t>
            </a:r>
            <a:r>
              <a:rPr kumimoji="0" lang="de-DE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&amp; </a:t>
            </a:r>
            <a:r>
              <a:rPr kumimoji="0" lang="de-DE" sz="1200" b="1" i="0" u="none" strike="noStrike" cap="none" normalizeH="0" baseline="0" dirty="0" err="1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quality</a:t>
            </a:r>
            <a:r>
              <a:rPr kumimoji="0" lang="de-DE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200" b="1" i="0" u="none" strike="noStrike" cap="none" normalizeH="0" baseline="0" dirty="0" err="1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of</a:t>
            </a:r>
            <a:r>
              <a:rPr kumimoji="0" lang="de-DE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200" b="1" i="0" u="none" strike="noStrike" cap="none" normalizeH="0" baseline="0" dirty="0" err="1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substrate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1691680" y="195486"/>
            <a:ext cx="2304256" cy="324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8" tIns="16459" rIns="32918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Process optimisation   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quality of biogas residues    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4211961" y="216360"/>
            <a:ext cx="2077161" cy="30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8" tIns="16459" rIns="32918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Trace gas emissions from biogas plant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31" name="AutoShape 7"/>
          <p:cNvSpPr>
            <a:spLocks/>
          </p:cNvSpPr>
          <p:nvPr/>
        </p:nvSpPr>
        <p:spPr bwMode="auto">
          <a:xfrm>
            <a:off x="7332560" y="205818"/>
            <a:ext cx="551809" cy="4255246"/>
          </a:xfrm>
          <a:prstGeom prst="rightBracket">
            <a:avLst>
              <a:gd name="adj" fmla="val 85765"/>
            </a:avLst>
          </a:prstGeom>
          <a:noFill/>
          <a:ln w="50800">
            <a:solidFill>
              <a:srgbClr val="8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8028384" y="1375432"/>
            <a:ext cx="1368152" cy="2654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2918" tIns="16459" rIns="32918" bIns="16459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Systems evaluation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normalizeH="0" baseline="0" dirty="0" smtClean="0">
              <a:ln>
                <a:noFill/>
              </a:ln>
              <a:solidFill>
                <a:srgbClr val="0033CC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normalizeH="0" baseline="0" dirty="0" smtClean="0">
              <a:ln>
                <a:noFill/>
              </a:ln>
              <a:solidFill>
                <a:srgbClr val="0033CC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Systems </a:t>
            </a:r>
            <a:r>
              <a:rPr kumimoji="0" lang="en-GB" sz="1200" b="1" i="0" u="none" strike="noStrike" cap="none" normalizeH="0" baseline="0" dirty="0" err="1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modeling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normalizeH="0" baseline="0" dirty="0" smtClean="0">
              <a:ln>
                <a:noFill/>
              </a:ln>
              <a:solidFill>
                <a:srgbClr val="0033CC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normalizeH="0" baseline="0" dirty="0" smtClean="0">
              <a:ln>
                <a:noFill/>
              </a:ln>
              <a:solidFill>
                <a:srgbClr val="0033CC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Economic evaluation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normalizeH="0" baseline="0" dirty="0" smtClean="0">
              <a:ln>
                <a:noFill/>
              </a:ln>
              <a:solidFill>
                <a:srgbClr val="0033CC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b="1" dirty="0">
              <a:solidFill>
                <a:srgbClr val="0033CC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Life cycle assessment</a:t>
            </a: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 rot="5400000">
            <a:off x="571687" y="1940238"/>
            <a:ext cx="1158410" cy="646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Biomass</a:t>
            </a: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yield</a:t>
            </a: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and</a:t>
            </a: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ensiling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 rot="16200000">
            <a:off x="5379903" y="1543448"/>
            <a:ext cx="1782197" cy="490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Fertilization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Biogas </a:t>
            </a:r>
            <a:r>
              <a:rPr kumimoji="0" lang="de-DE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residues</a:t>
            </a:r>
            <a:endParaRPr kumimoji="0" 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4" name="Rechteck 43"/>
          <p:cNvSpPr/>
          <p:nvPr/>
        </p:nvSpPr>
        <p:spPr>
          <a:xfrm>
            <a:off x="3966252" y="257767"/>
            <a:ext cx="3177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GB" sz="1200" b="1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&amp;</a:t>
            </a:r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Bildschirmpräsentation (16:9)</PresentationFormat>
  <Paragraphs>35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Larissa-Design</vt:lpstr>
      <vt:lpstr>Folie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ckluss</dc:creator>
  <cp:lastModifiedBy>ckluss</cp:lastModifiedBy>
  <cp:revision>3</cp:revision>
  <dcterms:created xsi:type="dcterms:W3CDTF">2010-08-11T14:16:22Z</dcterms:created>
  <dcterms:modified xsi:type="dcterms:W3CDTF">2010-08-11T16:33:47Z</dcterms:modified>
</cp:coreProperties>
</file>